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</p:sldIdLst>
  <p:sldSz cx="18288000" cy="10287000"/>
  <p:notesSz cx="6858000" cy="9144000"/>
  <p:embeddedFontLst>
    <p:embeddedFont>
      <p:font typeface="Public Sans" charset="1" panose="00000000000000000000"/>
      <p:regular r:id="rId11"/>
    </p:embeddedFont>
    <p:embeddedFont>
      <p:font typeface="Agrandir Medium" charset="1" panose="00000600000000000000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6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0" y="302221"/>
            <a:ext cx="8841904" cy="9682557"/>
            <a:chOff x="0" y="0"/>
            <a:chExt cx="2328732" cy="255013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28732" cy="2550139"/>
            </a:xfrm>
            <a:custGeom>
              <a:avLst/>
              <a:gdLst/>
              <a:ahLst/>
              <a:cxnLst/>
              <a:rect r="r" b="b" t="t" l="l"/>
              <a:pathLst>
                <a:path h="2550139" w="2328732">
                  <a:moveTo>
                    <a:pt x="0" y="0"/>
                  </a:moveTo>
                  <a:lnTo>
                    <a:pt x="2328732" y="0"/>
                  </a:lnTo>
                  <a:lnTo>
                    <a:pt x="2328732" y="2550139"/>
                  </a:lnTo>
                  <a:lnTo>
                    <a:pt x="0" y="2550139"/>
                  </a:lnTo>
                  <a:close/>
                </a:path>
              </a:pathLst>
            </a:custGeom>
            <a:solidFill>
              <a:srgbClr val="FBF6F1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2328732" cy="257871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0159783" y="2041700"/>
            <a:ext cx="6810338" cy="6203599"/>
          </a:xfrm>
          <a:custGeom>
            <a:avLst/>
            <a:gdLst/>
            <a:ahLst/>
            <a:cxnLst/>
            <a:rect r="r" b="b" t="t" l="l"/>
            <a:pathLst>
              <a:path h="6203599" w="6810338">
                <a:moveTo>
                  <a:pt x="0" y="0"/>
                </a:moveTo>
                <a:lnTo>
                  <a:pt x="6810338" y="0"/>
                </a:lnTo>
                <a:lnTo>
                  <a:pt x="6810338" y="6203600"/>
                </a:lnTo>
                <a:lnTo>
                  <a:pt x="0" y="62036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028700" y="1028700"/>
            <a:ext cx="728006" cy="772980"/>
          </a:xfrm>
          <a:custGeom>
            <a:avLst/>
            <a:gdLst/>
            <a:ahLst/>
            <a:cxnLst/>
            <a:rect r="r" b="b" t="t" l="l"/>
            <a:pathLst>
              <a:path h="772980" w="728006">
                <a:moveTo>
                  <a:pt x="0" y="0"/>
                </a:moveTo>
                <a:lnTo>
                  <a:pt x="728006" y="0"/>
                </a:lnTo>
                <a:lnTo>
                  <a:pt x="728006" y="772980"/>
                </a:lnTo>
                <a:lnTo>
                  <a:pt x="0" y="77298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3870918"/>
            <a:ext cx="7527889" cy="26975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62"/>
              </a:lnSpc>
            </a:pPr>
            <a:r>
              <a:rPr lang="en-US" sz="7252" spc="-696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Aplicação para acompanhamento  </a:t>
            </a:r>
          </a:p>
          <a:p>
            <a:pPr algn="l" marL="0" indent="0" lvl="0">
              <a:lnSpc>
                <a:spcPts val="6962"/>
              </a:lnSpc>
            </a:pPr>
            <a:r>
              <a:rPr lang="en-US" sz="7252" spc="-696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médico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015825" y="1254217"/>
            <a:ext cx="2119719" cy="3886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90"/>
              </a:lnSpc>
              <a:spcBef>
                <a:spcPct val="0"/>
              </a:spcBef>
            </a:pPr>
            <a:r>
              <a:rPr lang="en-US" sz="3000" spc="-246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Grupo 06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9277350"/>
            <a:ext cx="6897187" cy="2336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700"/>
              </a:lnSpc>
            </a:pPr>
            <a:r>
              <a:rPr lang="en-US" sz="1700" spc="-85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Karolline Sena, Ketlen Santos, Lara Gomes, Lucas Moreira, Paloma Vitória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E6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200150"/>
            <a:ext cx="7924800" cy="2015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679"/>
              </a:lnSpc>
            </a:pPr>
            <a:r>
              <a:rPr lang="en-US" sz="7999" spc="-767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Funcionalidades Principais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3496064"/>
            <a:ext cx="8115300" cy="51907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560"/>
              </a:lnSpc>
            </a:pPr>
            <a:r>
              <a:rPr lang="en-US" sz="2797" b="true">
                <a:solidFill>
                  <a:srgbClr val="156669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Nosso projeto é uma aplicação de saúde   focado no acompanhamento de Médico, como como controle de pacientes e medicação.</a:t>
            </a:r>
          </a:p>
          <a:p>
            <a:pPr algn="just">
              <a:lnSpc>
                <a:spcPts val="4560"/>
              </a:lnSpc>
            </a:pPr>
          </a:p>
          <a:p>
            <a:pPr algn="just">
              <a:lnSpc>
                <a:spcPts val="4560"/>
              </a:lnSpc>
            </a:pPr>
            <a:r>
              <a:rPr lang="en-US" b="true" sz="2797">
                <a:solidFill>
                  <a:srgbClr val="156669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A plataforma centraliza informações pacientes, médicos, medicamentos como medições, para otimizar o monitoramento do tratamento e a comunicação eficiente entre pacientes e profissionais de saúde.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9784783" y="1365020"/>
            <a:ext cx="7097287" cy="2434044"/>
            <a:chOff x="0" y="0"/>
            <a:chExt cx="2213460" cy="75911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13460" cy="759115"/>
            </a:xfrm>
            <a:custGeom>
              <a:avLst/>
              <a:gdLst/>
              <a:ahLst/>
              <a:cxnLst/>
              <a:rect r="r" b="b" t="t" l="l"/>
              <a:pathLst>
                <a:path h="759115" w="2213460">
                  <a:moveTo>
                    <a:pt x="16362" y="0"/>
                  </a:moveTo>
                  <a:lnTo>
                    <a:pt x="2197097" y="0"/>
                  </a:lnTo>
                  <a:cubicBezTo>
                    <a:pt x="2201437" y="0"/>
                    <a:pt x="2205599" y="1724"/>
                    <a:pt x="2208667" y="4792"/>
                  </a:cubicBezTo>
                  <a:cubicBezTo>
                    <a:pt x="2211736" y="7861"/>
                    <a:pt x="2213460" y="12023"/>
                    <a:pt x="2213460" y="16362"/>
                  </a:cubicBezTo>
                  <a:lnTo>
                    <a:pt x="2213460" y="742753"/>
                  </a:lnTo>
                  <a:cubicBezTo>
                    <a:pt x="2213460" y="747092"/>
                    <a:pt x="2211736" y="751254"/>
                    <a:pt x="2208667" y="754323"/>
                  </a:cubicBezTo>
                  <a:cubicBezTo>
                    <a:pt x="2205599" y="757391"/>
                    <a:pt x="2201437" y="759115"/>
                    <a:pt x="2197097" y="759115"/>
                  </a:cubicBezTo>
                  <a:lnTo>
                    <a:pt x="16362" y="759115"/>
                  </a:lnTo>
                  <a:cubicBezTo>
                    <a:pt x="12023" y="759115"/>
                    <a:pt x="7861" y="757391"/>
                    <a:pt x="4792" y="754323"/>
                  </a:cubicBezTo>
                  <a:cubicBezTo>
                    <a:pt x="1724" y="751254"/>
                    <a:pt x="0" y="747092"/>
                    <a:pt x="0" y="742753"/>
                  </a:cubicBezTo>
                  <a:lnTo>
                    <a:pt x="0" y="16362"/>
                  </a:lnTo>
                  <a:cubicBezTo>
                    <a:pt x="0" y="12023"/>
                    <a:pt x="1724" y="7861"/>
                    <a:pt x="4792" y="4792"/>
                  </a:cubicBezTo>
                  <a:cubicBezTo>
                    <a:pt x="7861" y="1724"/>
                    <a:pt x="12023" y="0"/>
                    <a:pt x="16362" y="0"/>
                  </a:cubicBezTo>
                  <a:close/>
                </a:path>
              </a:pathLst>
            </a:custGeom>
            <a:solidFill>
              <a:srgbClr val="FBF6F1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2213460" cy="7972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784783" y="3925191"/>
            <a:ext cx="7097287" cy="2434044"/>
            <a:chOff x="0" y="0"/>
            <a:chExt cx="2213460" cy="759115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213460" cy="759115"/>
            </a:xfrm>
            <a:custGeom>
              <a:avLst/>
              <a:gdLst/>
              <a:ahLst/>
              <a:cxnLst/>
              <a:rect r="r" b="b" t="t" l="l"/>
              <a:pathLst>
                <a:path h="759115" w="2213460">
                  <a:moveTo>
                    <a:pt x="16362" y="0"/>
                  </a:moveTo>
                  <a:lnTo>
                    <a:pt x="2197097" y="0"/>
                  </a:lnTo>
                  <a:cubicBezTo>
                    <a:pt x="2201437" y="0"/>
                    <a:pt x="2205599" y="1724"/>
                    <a:pt x="2208667" y="4792"/>
                  </a:cubicBezTo>
                  <a:cubicBezTo>
                    <a:pt x="2211736" y="7861"/>
                    <a:pt x="2213460" y="12023"/>
                    <a:pt x="2213460" y="16362"/>
                  </a:cubicBezTo>
                  <a:lnTo>
                    <a:pt x="2213460" y="742753"/>
                  </a:lnTo>
                  <a:cubicBezTo>
                    <a:pt x="2213460" y="747092"/>
                    <a:pt x="2211736" y="751254"/>
                    <a:pt x="2208667" y="754323"/>
                  </a:cubicBezTo>
                  <a:cubicBezTo>
                    <a:pt x="2205599" y="757391"/>
                    <a:pt x="2201437" y="759115"/>
                    <a:pt x="2197097" y="759115"/>
                  </a:cubicBezTo>
                  <a:lnTo>
                    <a:pt x="16362" y="759115"/>
                  </a:lnTo>
                  <a:cubicBezTo>
                    <a:pt x="12023" y="759115"/>
                    <a:pt x="7861" y="757391"/>
                    <a:pt x="4792" y="754323"/>
                  </a:cubicBezTo>
                  <a:cubicBezTo>
                    <a:pt x="1724" y="751254"/>
                    <a:pt x="0" y="747092"/>
                    <a:pt x="0" y="742753"/>
                  </a:cubicBezTo>
                  <a:lnTo>
                    <a:pt x="0" y="16362"/>
                  </a:lnTo>
                  <a:cubicBezTo>
                    <a:pt x="0" y="12023"/>
                    <a:pt x="1724" y="7861"/>
                    <a:pt x="4792" y="4792"/>
                  </a:cubicBezTo>
                  <a:cubicBezTo>
                    <a:pt x="7861" y="1724"/>
                    <a:pt x="12023" y="0"/>
                    <a:pt x="16362" y="0"/>
                  </a:cubicBezTo>
                  <a:close/>
                </a:path>
              </a:pathLst>
            </a:custGeom>
            <a:solidFill>
              <a:srgbClr val="FBF6F1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2213460" cy="7972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9784783" y="6487936"/>
            <a:ext cx="7097287" cy="2434044"/>
            <a:chOff x="0" y="0"/>
            <a:chExt cx="2213460" cy="759115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13460" cy="759115"/>
            </a:xfrm>
            <a:custGeom>
              <a:avLst/>
              <a:gdLst/>
              <a:ahLst/>
              <a:cxnLst/>
              <a:rect r="r" b="b" t="t" l="l"/>
              <a:pathLst>
                <a:path h="759115" w="2213460">
                  <a:moveTo>
                    <a:pt x="16362" y="0"/>
                  </a:moveTo>
                  <a:lnTo>
                    <a:pt x="2197097" y="0"/>
                  </a:lnTo>
                  <a:cubicBezTo>
                    <a:pt x="2201437" y="0"/>
                    <a:pt x="2205599" y="1724"/>
                    <a:pt x="2208667" y="4792"/>
                  </a:cubicBezTo>
                  <a:cubicBezTo>
                    <a:pt x="2211736" y="7861"/>
                    <a:pt x="2213460" y="12023"/>
                    <a:pt x="2213460" y="16362"/>
                  </a:cubicBezTo>
                  <a:lnTo>
                    <a:pt x="2213460" y="742753"/>
                  </a:lnTo>
                  <a:cubicBezTo>
                    <a:pt x="2213460" y="747092"/>
                    <a:pt x="2211736" y="751254"/>
                    <a:pt x="2208667" y="754323"/>
                  </a:cubicBezTo>
                  <a:cubicBezTo>
                    <a:pt x="2205599" y="757391"/>
                    <a:pt x="2201437" y="759115"/>
                    <a:pt x="2197097" y="759115"/>
                  </a:cubicBezTo>
                  <a:lnTo>
                    <a:pt x="16362" y="759115"/>
                  </a:lnTo>
                  <a:cubicBezTo>
                    <a:pt x="12023" y="759115"/>
                    <a:pt x="7861" y="757391"/>
                    <a:pt x="4792" y="754323"/>
                  </a:cubicBezTo>
                  <a:cubicBezTo>
                    <a:pt x="1724" y="751254"/>
                    <a:pt x="0" y="747092"/>
                    <a:pt x="0" y="742753"/>
                  </a:cubicBezTo>
                  <a:lnTo>
                    <a:pt x="0" y="16362"/>
                  </a:lnTo>
                  <a:cubicBezTo>
                    <a:pt x="0" y="12023"/>
                    <a:pt x="1724" y="7861"/>
                    <a:pt x="4792" y="4792"/>
                  </a:cubicBezTo>
                  <a:cubicBezTo>
                    <a:pt x="7861" y="1724"/>
                    <a:pt x="12023" y="0"/>
                    <a:pt x="16362" y="0"/>
                  </a:cubicBezTo>
                  <a:close/>
                </a:path>
              </a:pathLst>
            </a:custGeom>
            <a:solidFill>
              <a:srgbClr val="FBF6F1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2213460" cy="7972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379423" y="7166795"/>
            <a:ext cx="1831939" cy="1295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9599"/>
              </a:lnSpc>
              <a:spcBef>
                <a:spcPct val="0"/>
              </a:spcBef>
            </a:pPr>
            <a:r>
              <a:rPr lang="en-US" sz="9999" spc="-959" strike="noStrike" u="none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03.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379423" y="4604051"/>
            <a:ext cx="1831939" cy="1295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9599"/>
              </a:lnSpc>
              <a:spcBef>
                <a:spcPct val="0"/>
              </a:spcBef>
            </a:pPr>
            <a:r>
              <a:rPr lang="en-US" sz="9999" spc="-959" strike="noStrike" u="none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02.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379423" y="2043880"/>
            <a:ext cx="1831939" cy="1295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9599"/>
              </a:lnSpc>
              <a:spcBef>
                <a:spcPct val="0"/>
              </a:spcBef>
            </a:pPr>
            <a:r>
              <a:rPr lang="en-US" sz="9999" spc="-959" strike="noStrike" u="none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01.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407330" y="1935930"/>
            <a:ext cx="3945453" cy="11901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563"/>
              </a:lnSpc>
              <a:spcBef>
                <a:spcPct val="0"/>
              </a:spcBef>
            </a:pPr>
            <a:r>
              <a:rPr lang="en-US" b="true" sz="2799">
                <a:solidFill>
                  <a:srgbClr val="156669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Visualização de dados para o Paciente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407330" y="4447142"/>
            <a:ext cx="3945453" cy="11901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563"/>
              </a:lnSpc>
              <a:spcBef>
                <a:spcPct val="0"/>
              </a:spcBef>
            </a:pPr>
            <a:r>
              <a:rPr lang="en-US" b="true" sz="2799">
                <a:solidFill>
                  <a:srgbClr val="156669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Gestão de pacientes a partir do login Médico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407330" y="6438386"/>
            <a:ext cx="3945453" cy="23331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563"/>
              </a:lnSpc>
              <a:spcBef>
                <a:spcPct val="0"/>
              </a:spcBef>
            </a:pPr>
            <a:r>
              <a:rPr lang="en-US" b="true" sz="2799">
                <a:solidFill>
                  <a:srgbClr val="156669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Administrador com todas as permissões para gerenciamento da aplicação 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F8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980889" y="1577587"/>
            <a:ext cx="14525374" cy="11696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639"/>
              </a:lnSpc>
            </a:pPr>
            <a:r>
              <a:rPr lang="en-US" sz="8999" spc="-863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Demonstração do CRUD 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521087" y="3932126"/>
            <a:ext cx="4085734" cy="3733442"/>
            <a:chOff x="0" y="0"/>
            <a:chExt cx="1721972" cy="157349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721972" cy="1573495"/>
            </a:xfrm>
            <a:custGeom>
              <a:avLst/>
              <a:gdLst/>
              <a:ahLst/>
              <a:cxnLst/>
              <a:rect r="r" b="b" t="t" l="l"/>
              <a:pathLst>
                <a:path h="1573495" w="1721972">
                  <a:moveTo>
                    <a:pt x="28423" y="0"/>
                  </a:moveTo>
                  <a:lnTo>
                    <a:pt x="1693549" y="0"/>
                  </a:lnTo>
                  <a:cubicBezTo>
                    <a:pt x="1709247" y="0"/>
                    <a:pt x="1721972" y="12725"/>
                    <a:pt x="1721972" y="28423"/>
                  </a:cubicBezTo>
                  <a:lnTo>
                    <a:pt x="1721972" y="1545072"/>
                  </a:lnTo>
                  <a:cubicBezTo>
                    <a:pt x="1721972" y="1560770"/>
                    <a:pt x="1709247" y="1573495"/>
                    <a:pt x="1693549" y="1573495"/>
                  </a:cubicBezTo>
                  <a:lnTo>
                    <a:pt x="28423" y="1573495"/>
                  </a:lnTo>
                  <a:cubicBezTo>
                    <a:pt x="12725" y="1573495"/>
                    <a:pt x="0" y="1560770"/>
                    <a:pt x="0" y="1545072"/>
                  </a:cubicBezTo>
                  <a:lnTo>
                    <a:pt x="0" y="28423"/>
                  </a:lnTo>
                  <a:cubicBezTo>
                    <a:pt x="0" y="12725"/>
                    <a:pt x="12725" y="0"/>
                    <a:pt x="28423" y="0"/>
                  </a:cubicBezTo>
                  <a:close/>
                </a:path>
              </a:pathLst>
            </a:custGeom>
            <a:solidFill>
              <a:srgbClr val="B8D2E4"/>
            </a:soli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1721972" cy="16115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104165" y="4406218"/>
            <a:ext cx="2919578" cy="28035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470"/>
              </a:lnSpc>
              <a:spcBef>
                <a:spcPct val="0"/>
              </a:spcBef>
            </a:pPr>
            <a:r>
              <a:rPr lang="en-US" b="true" sz="3356" strike="noStrike" u="none">
                <a:solidFill>
                  <a:srgbClr val="156669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 Cadastrar um novo paciente no sistema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4906632" y="3932126"/>
            <a:ext cx="4085734" cy="3733442"/>
            <a:chOff x="0" y="0"/>
            <a:chExt cx="1721972" cy="1573495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721972" cy="1573495"/>
            </a:xfrm>
            <a:custGeom>
              <a:avLst/>
              <a:gdLst/>
              <a:ahLst/>
              <a:cxnLst/>
              <a:rect r="r" b="b" t="t" l="l"/>
              <a:pathLst>
                <a:path h="1573495" w="1721972">
                  <a:moveTo>
                    <a:pt x="28423" y="0"/>
                  </a:moveTo>
                  <a:lnTo>
                    <a:pt x="1693549" y="0"/>
                  </a:lnTo>
                  <a:cubicBezTo>
                    <a:pt x="1709247" y="0"/>
                    <a:pt x="1721972" y="12725"/>
                    <a:pt x="1721972" y="28423"/>
                  </a:cubicBezTo>
                  <a:lnTo>
                    <a:pt x="1721972" y="1545072"/>
                  </a:lnTo>
                  <a:cubicBezTo>
                    <a:pt x="1721972" y="1560770"/>
                    <a:pt x="1709247" y="1573495"/>
                    <a:pt x="1693549" y="1573495"/>
                  </a:cubicBezTo>
                  <a:lnTo>
                    <a:pt x="28423" y="1573495"/>
                  </a:lnTo>
                  <a:cubicBezTo>
                    <a:pt x="12725" y="1573495"/>
                    <a:pt x="0" y="1560770"/>
                    <a:pt x="0" y="1545072"/>
                  </a:cubicBezTo>
                  <a:lnTo>
                    <a:pt x="0" y="28423"/>
                  </a:lnTo>
                  <a:cubicBezTo>
                    <a:pt x="0" y="12725"/>
                    <a:pt x="12725" y="0"/>
                    <a:pt x="28423" y="0"/>
                  </a:cubicBezTo>
                  <a:close/>
                </a:path>
              </a:pathLst>
            </a:custGeom>
            <a:solidFill>
              <a:srgbClr val="B8D2E4"/>
            </a:solidFill>
            <a:ln cap="sq">
              <a:noFill/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721972" cy="16115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9293905" y="3932126"/>
            <a:ext cx="4085734" cy="3733442"/>
            <a:chOff x="0" y="0"/>
            <a:chExt cx="1721972" cy="1573495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721972" cy="1573495"/>
            </a:xfrm>
            <a:custGeom>
              <a:avLst/>
              <a:gdLst/>
              <a:ahLst/>
              <a:cxnLst/>
              <a:rect r="r" b="b" t="t" l="l"/>
              <a:pathLst>
                <a:path h="1573495" w="1721972">
                  <a:moveTo>
                    <a:pt x="28423" y="0"/>
                  </a:moveTo>
                  <a:lnTo>
                    <a:pt x="1693549" y="0"/>
                  </a:lnTo>
                  <a:cubicBezTo>
                    <a:pt x="1709247" y="0"/>
                    <a:pt x="1721972" y="12725"/>
                    <a:pt x="1721972" y="28423"/>
                  </a:cubicBezTo>
                  <a:lnTo>
                    <a:pt x="1721972" y="1545072"/>
                  </a:lnTo>
                  <a:cubicBezTo>
                    <a:pt x="1721972" y="1560770"/>
                    <a:pt x="1709247" y="1573495"/>
                    <a:pt x="1693549" y="1573495"/>
                  </a:cubicBezTo>
                  <a:lnTo>
                    <a:pt x="28423" y="1573495"/>
                  </a:lnTo>
                  <a:cubicBezTo>
                    <a:pt x="12725" y="1573495"/>
                    <a:pt x="0" y="1560770"/>
                    <a:pt x="0" y="1545072"/>
                  </a:cubicBezTo>
                  <a:lnTo>
                    <a:pt x="0" y="28423"/>
                  </a:lnTo>
                  <a:cubicBezTo>
                    <a:pt x="0" y="12725"/>
                    <a:pt x="12725" y="0"/>
                    <a:pt x="28423" y="0"/>
                  </a:cubicBezTo>
                  <a:close/>
                </a:path>
              </a:pathLst>
            </a:custGeom>
            <a:solidFill>
              <a:srgbClr val="B8D2E4"/>
            </a:solidFill>
            <a:ln cap="sq">
              <a:noFill/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721972" cy="16115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3681178" y="3932126"/>
            <a:ext cx="4085734" cy="3733442"/>
            <a:chOff x="0" y="0"/>
            <a:chExt cx="1721972" cy="157349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721972" cy="1573495"/>
            </a:xfrm>
            <a:custGeom>
              <a:avLst/>
              <a:gdLst/>
              <a:ahLst/>
              <a:cxnLst/>
              <a:rect r="r" b="b" t="t" l="l"/>
              <a:pathLst>
                <a:path h="1573495" w="1721972">
                  <a:moveTo>
                    <a:pt x="28423" y="0"/>
                  </a:moveTo>
                  <a:lnTo>
                    <a:pt x="1693549" y="0"/>
                  </a:lnTo>
                  <a:cubicBezTo>
                    <a:pt x="1709247" y="0"/>
                    <a:pt x="1721972" y="12725"/>
                    <a:pt x="1721972" y="28423"/>
                  </a:cubicBezTo>
                  <a:lnTo>
                    <a:pt x="1721972" y="1545072"/>
                  </a:lnTo>
                  <a:cubicBezTo>
                    <a:pt x="1721972" y="1560770"/>
                    <a:pt x="1709247" y="1573495"/>
                    <a:pt x="1693549" y="1573495"/>
                  </a:cubicBezTo>
                  <a:lnTo>
                    <a:pt x="28423" y="1573495"/>
                  </a:lnTo>
                  <a:cubicBezTo>
                    <a:pt x="12725" y="1573495"/>
                    <a:pt x="0" y="1560770"/>
                    <a:pt x="0" y="1545072"/>
                  </a:cubicBezTo>
                  <a:lnTo>
                    <a:pt x="0" y="28423"/>
                  </a:lnTo>
                  <a:cubicBezTo>
                    <a:pt x="0" y="12725"/>
                    <a:pt x="12725" y="0"/>
                    <a:pt x="28423" y="0"/>
                  </a:cubicBezTo>
                  <a:close/>
                </a:path>
              </a:pathLst>
            </a:custGeom>
            <a:solidFill>
              <a:srgbClr val="B8D2E4"/>
            </a:solidFill>
            <a:ln cap="sq">
              <a:noFill/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1721972" cy="16115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5484888" y="4282763"/>
            <a:ext cx="2919578" cy="28035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470"/>
              </a:lnSpc>
              <a:spcBef>
                <a:spcPct val="0"/>
              </a:spcBef>
            </a:pPr>
            <a:r>
              <a:rPr lang="en-US" b="true" sz="3356">
                <a:solidFill>
                  <a:srgbClr val="156669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Li</a:t>
            </a:r>
            <a:r>
              <a:rPr lang="en-US" b="true" sz="3356" strike="noStrike" u="none">
                <a:solidFill>
                  <a:srgbClr val="156669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star e buscar os pacientes cadastrados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704137" y="4282763"/>
            <a:ext cx="3265272" cy="28035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470"/>
              </a:lnSpc>
              <a:spcBef>
                <a:spcPct val="0"/>
              </a:spcBef>
            </a:pPr>
            <a:r>
              <a:rPr lang="en-US" b="true" sz="3356" strike="noStrike" u="none">
                <a:solidFill>
                  <a:srgbClr val="156669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 Editar as informações de um paciente existente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4269078" y="4751001"/>
            <a:ext cx="2919578" cy="21140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470"/>
              </a:lnSpc>
              <a:spcBef>
                <a:spcPct val="0"/>
              </a:spcBef>
            </a:pPr>
            <a:r>
              <a:rPr lang="en-US" b="true" sz="3356">
                <a:solidFill>
                  <a:srgbClr val="156669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Remove</a:t>
            </a:r>
            <a:r>
              <a:rPr lang="en-US" b="true" sz="3356" strike="noStrike" u="none">
                <a:solidFill>
                  <a:srgbClr val="156669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r um paciente do sistema.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F8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980889" y="1549012"/>
            <a:ext cx="14525374" cy="10439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679"/>
              </a:lnSpc>
            </a:pPr>
            <a:r>
              <a:rPr lang="en-US" sz="7999" spc="-767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Tecnologias Utilizadas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028700" y="3925629"/>
            <a:ext cx="7277636" cy="1222087"/>
            <a:chOff x="0" y="0"/>
            <a:chExt cx="2916440" cy="489739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916440" cy="489739"/>
            </a:xfrm>
            <a:custGeom>
              <a:avLst/>
              <a:gdLst/>
              <a:ahLst/>
              <a:cxnLst/>
              <a:rect r="r" b="b" t="t" l="l"/>
              <a:pathLst>
                <a:path h="489739" w="2916440">
                  <a:moveTo>
                    <a:pt x="15957" y="0"/>
                  </a:moveTo>
                  <a:lnTo>
                    <a:pt x="2900483" y="0"/>
                  </a:lnTo>
                  <a:cubicBezTo>
                    <a:pt x="2909296" y="0"/>
                    <a:pt x="2916440" y="7144"/>
                    <a:pt x="2916440" y="15957"/>
                  </a:cubicBezTo>
                  <a:lnTo>
                    <a:pt x="2916440" y="473782"/>
                  </a:lnTo>
                  <a:cubicBezTo>
                    <a:pt x="2916440" y="482595"/>
                    <a:pt x="2909296" y="489739"/>
                    <a:pt x="2900483" y="489739"/>
                  </a:cubicBezTo>
                  <a:lnTo>
                    <a:pt x="15957" y="489739"/>
                  </a:lnTo>
                  <a:cubicBezTo>
                    <a:pt x="7144" y="489739"/>
                    <a:pt x="0" y="482595"/>
                    <a:pt x="0" y="473782"/>
                  </a:cubicBezTo>
                  <a:lnTo>
                    <a:pt x="0" y="15957"/>
                  </a:lnTo>
                  <a:cubicBezTo>
                    <a:pt x="0" y="7144"/>
                    <a:pt x="7144" y="0"/>
                    <a:pt x="15957" y="0"/>
                  </a:cubicBezTo>
                  <a:close/>
                </a:path>
              </a:pathLst>
            </a:custGeom>
            <a:solidFill>
              <a:srgbClr val="B8D2E4"/>
            </a:soli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2916440" cy="52783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796643" y="4080304"/>
            <a:ext cx="5741751" cy="7246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379"/>
              </a:lnSpc>
              <a:spcBef>
                <a:spcPct val="0"/>
              </a:spcBef>
            </a:pPr>
            <a:r>
              <a:rPr lang="en-US" b="true" sz="3300">
                <a:solidFill>
                  <a:srgbClr val="156669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Ling</a:t>
            </a:r>
            <a:r>
              <a:rPr lang="en-US" b="true" sz="3300" strike="noStrike" u="none">
                <a:solidFill>
                  <a:srgbClr val="156669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uagem: Java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028700" y="5599539"/>
            <a:ext cx="7277636" cy="1222087"/>
            <a:chOff x="0" y="0"/>
            <a:chExt cx="2916440" cy="48973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916440" cy="489739"/>
            </a:xfrm>
            <a:custGeom>
              <a:avLst/>
              <a:gdLst/>
              <a:ahLst/>
              <a:cxnLst/>
              <a:rect r="r" b="b" t="t" l="l"/>
              <a:pathLst>
                <a:path h="489739" w="2916440">
                  <a:moveTo>
                    <a:pt x="15957" y="0"/>
                  </a:moveTo>
                  <a:lnTo>
                    <a:pt x="2900483" y="0"/>
                  </a:lnTo>
                  <a:cubicBezTo>
                    <a:pt x="2909296" y="0"/>
                    <a:pt x="2916440" y="7144"/>
                    <a:pt x="2916440" y="15957"/>
                  </a:cubicBezTo>
                  <a:lnTo>
                    <a:pt x="2916440" y="473782"/>
                  </a:lnTo>
                  <a:cubicBezTo>
                    <a:pt x="2916440" y="482595"/>
                    <a:pt x="2909296" y="489739"/>
                    <a:pt x="2900483" y="489739"/>
                  </a:cubicBezTo>
                  <a:lnTo>
                    <a:pt x="15957" y="489739"/>
                  </a:lnTo>
                  <a:cubicBezTo>
                    <a:pt x="7144" y="489739"/>
                    <a:pt x="0" y="482595"/>
                    <a:pt x="0" y="473782"/>
                  </a:cubicBezTo>
                  <a:lnTo>
                    <a:pt x="0" y="15957"/>
                  </a:lnTo>
                  <a:cubicBezTo>
                    <a:pt x="0" y="7144"/>
                    <a:pt x="7144" y="0"/>
                    <a:pt x="15957" y="0"/>
                  </a:cubicBezTo>
                  <a:close/>
                </a:path>
              </a:pathLst>
            </a:custGeom>
            <a:solidFill>
              <a:srgbClr val="B8D2E4"/>
            </a:solidFill>
            <a:ln cap="sq">
              <a:noFill/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2916440" cy="52783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028700" y="7157959"/>
            <a:ext cx="7277636" cy="1222087"/>
            <a:chOff x="0" y="0"/>
            <a:chExt cx="2916440" cy="489739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916440" cy="489739"/>
            </a:xfrm>
            <a:custGeom>
              <a:avLst/>
              <a:gdLst/>
              <a:ahLst/>
              <a:cxnLst/>
              <a:rect r="r" b="b" t="t" l="l"/>
              <a:pathLst>
                <a:path h="489739" w="2916440">
                  <a:moveTo>
                    <a:pt x="15957" y="0"/>
                  </a:moveTo>
                  <a:lnTo>
                    <a:pt x="2900483" y="0"/>
                  </a:lnTo>
                  <a:cubicBezTo>
                    <a:pt x="2909296" y="0"/>
                    <a:pt x="2916440" y="7144"/>
                    <a:pt x="2916440" y="15957"/>
                  </a:cubicBezTo>
                  <a:lnTo>
                    <a:pt x="2916440" y="473782"/>
                  </a:lnTo>
                  <a:cubicBezTo>
                    <a:pt x="2916440" y="482595"/>
                    <a:pt x="2909296" y="489739"/>
                    <a:pt x="2900483" y="489739"/>
                  </a:cubicBezTo>
                  <a:lnTo>
                    <a:pt x="15957" y="489739"/>
                  </a:lnTo>
                  <a:cubicBezTo>
                    <a:pt x="7144" y="489739"/>
                    <a:pt x="0" y="482595"/>
                    <a:pt x="0" y="473782"/>
                  </a:cubicBezTo>
                  <a:lnTo>
                    <a:pt x="0" y="15957"/>
                  </a:lnTo>
                  <a:cubicBezTo>
                    <a:pt x="0" y="7144"/>
                    <a:pt x="7144" y="0"/>
                    <a:pt x="15957" y="0"/>
                  </a:cubicBezTo>
                  <a:close/>
                </a:path>
              </a:pathLst>
            </a:custGeom>
            <a:solidFill>
              <a:srgbClr val="B8D2E4"/>
            </a:solidFill>
            <a:ln cap="sq">
              <a:noFill/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2916440" cy="52783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796643" y="7309422"/>
            <a:ext cx="5741751" cy="7246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379"/>
              </a:lnSpc>
              <a:spcBef>
                <a:spcPct val="0"/>
              </a:spcBef>
            </a:pPr>
            <a:r>
              <a:rPr lang="en-US" b="true" sz="3300">
                <a:solidFill>
                  <a:srgbClr val="156669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In</a:t>
            </a:r>
            <a:r>
              <a:rPr lang="en-US" b="true" sz="3300" strike="noStrike" u="none">
                <a:solidFill>
                  <a:srgbClr val="156669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terface Gráfica: CLI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9981664" y="3925629"/>
            <a:ext cx="7277636" cy="1222087"/>
            <a:chOff x="0" y="0"/>
            <a:chExt cx="2916440" cy="489739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916440" cy="489739"/>
            </a:xfrm>
            <a:custGeom>
              <a:avLst/>
              <a:gdLst/>
              <a:ahLst/>
              <a:cxnLst/>
              <a:rect r="r" b="b" t="t" l="l"/>
              <a:pathLst>
                <a:path h="489739" w="2916440">
                  <a:moveTo>
                    <a:pt x="15957" y="0"/>
                  </a:moveTo>
                  <a:lnTo>
                    <a:pt x="2900483" y="0"/>
                  </a:lnTo>
                  <a:cubicBezTo>
                    <a:pt x="2909296" y="0"/>
                    <a:pt x="2916440" y="7144"/>
                    <a:pt x="2916440" y="15957"/>
                  </a:cubicBezTo>
                  <a:lnTo>
                    <a:pt x="2916440" y="473782"/>
                  </a:lnTo>
                  <a:cubicBezTo>
                    <a:pt x="2916440" y="482595"/>
                    <a:pt x="2909296" y="489739"/>
                    <a:pt x="2900483" y="489739"/>
                  </a:cubicBezTo>
                  <a:lnTo>
                    <a:pt x="15957" y="489739"/>
                  </a:lnTo>
                  <a:cubicBezTo>
                    <a:pt x="7144" y="489739"/>
                    <a:pt x="0" y="482595"/>
                    <a:pt x="0" y="473782"/>
                  </a:cubicBezTo>
                  <a:lnTo>
                    <a:pt x="0" y="15957"/>
                  </a:lnTo>
                  <a:cubicBezTo>
                    <a:pt x="0" y="7144"/>
                    <a:pt x="7144" y="0"/>
                    <a:pt x="15957" y="0"/>
                  </a:cubicBezTo>
                  <a:close/>
                </a:path>
              </a:pathLst>
            </a:custGeom>
            <a:solidFill>
              <a:srgbClr val="B8D2E4"/>
            </a:solidFill>
            <a:ln cap="sq">
              <a:noFill/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916440" cy="52783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10749606" y="4080304"/>
            <a:ext cx="5741751" cy="7246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379"/>
              </a:lnSpc>
              <a:spcBef>
                <a:spcPct val="0"/>
              </a:spcBef>
            </a:pPr>
            <a:r>
              <a:rPr lang="en-US" b="true" sz="3300">
                <a:solidFill>
                  <a:srgbClr val="156669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IDE:</a:t>
            </a:r>
            <a:r>
              <a:rPr lang="en-US" b="true" sz="3300" strike="noStrike" u="none">
                <a:solidFill>
                  <a:srgbClr val="156669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 NetBeans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9981664" y="5599539"/>
            <a:ext cx="7277636" cy="1222087"/>
            <a:chOff x="0" y="0"/>
            <a:chExt cx="2916440" cy="489739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916440" cy="489739"/>
            </a:xfrm>
            <a:custGeom>
              <a:avLst/>
              <a:gdLst/>
              <a:ahLst/>
              <a:cxnLst/>
              <a:rect r="r" b="b" t="t" l="l"/>
              <a:pathLst>
                <a:path h="489739" w="2916440">
                  <a:moveTo>
                    <a:pt x="15957" y="0"/>
                  </a:moveTo>
                  <a:lnTo>
                    <a:pt x="2900483" y="0"/>
                  </a:lnTo>
                  <a:cubicBezTo>
                    <a:pt x="2909296" y="0"/>
                    <a:pt x="2916440" y="7144"/>
                    <a:pt x="2916440" y="15957"/>
                  </a:cubicBezTo>
                  <a:lnTo>
                    <a:pt x="2916440" y="473782"/>
                  </a:lnTo>
                  <a:cubicBezTo>
                    <a:pt x="2916440" y="482595"/>
                    <a:pt x="2909296" y="489739"/>
                    <a:pt x="2900483" y="489739"/>
                  </a:cubicBezTo>
                  <a:lnTo>
                    <a:pt x="15957" y="489739"/>
                  </a:lnTo>
                  <a:cubicBezTo>
                    <a:pt x="7144" y="489739"/>
                    <a:pt x="0" y="482595"/>
                    <a:pt x="0" y="473782"/>
                  </a:cubicBezTo>
                  <a:lnTo>
                    <a:pt x="0" y="15957"/>
                  </a:lnTo>
                  <a:cubicBezTo>
                    <a:pt x="0" y="7144"/>
                    <a:pt x="7144" y="0"/>
                    <a:pt x="15957" y="0"/>
                  </a:cubicBezTo>
                  <a:close/>
                </a:path>
              </a:pathLst>
            </a:custGeom>
            <a:solidFill>
              <a:srgbClr val="B8D2E4"/>
            </a:solidFill>
            <a:ln cap="sq">
              <a:noFill/>
              <a:prstDash val="solid"/>
              <a:miter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2916440" cy="52783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10875661" y="5733951"/>
            <a:ext cx="5741751" cy="7246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379"/>
              </a:lnSpc>
              <a:spcBef>
                <a:spcPct val="0"/>
              </a:spcBef>
            </a:pPr>
            <a:r>
              <a:rPr lang="en-US" b="true" sz="3300">
                <a:solidFill>
                  <a:srgbClr val="156669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B</a:t>
            </a:r>
            <a:r>
              <a:rPr lang="en-US" b="true" sz="3300" strike="noStrike" u="none">
                <a:solidFill>
                  <a:srgbClr val="156669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anco de Dados: MySQL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796643" y="5733951"/>
            <a:ext cx="5741751" cy="7246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379"/>
              </a:lnSpc>
              <a:spcBef>
                <a:spcPct val="0"/>
              </a:spcBef>
            </a:pPr>
            <a:r>
              <a:rPr lang="en-US" b="true" sz="3300">
                <a:solidFill>
                  <a:srgbClr val="156669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Modelo MVC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9981664" y="7157959"/>
            <a:ext cx="7277636" cy="1222087"/>
            <a:chOff x="0" y="0"/>
            <a:chExt cx="2916440" cy="489739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916440" cy="489739"/>
            </a:xfrm>
            <a:custGeom>
              <a:avLst/>
              <a:gdLst/>
              <a:ahLst/>
              <a:cxnLst/>
              <a:rect r="r" b="b" t="t" l="l"/>
              <a:pathLst>
                <a:path h="489739" w="2916440">
                  <a:moveTo>
                    <a:pt x="15957" y="0"/>
                  </a:moveTo>
                  <a:lnTo>
                    <a:pt x="2900483" y="0"/>
                  </a:lnTo>
                  <a:cubicBezTo>
                    <a:pt x="2909296" y="0"/>
                    <a:pt x="2916440" y="7144"/>
                    <a:pt x="2916440" y="15957"/>
                  </a:cubicBezTo>
                  <a:lnTo>
                    <a:pt x="2916440" y="473782"/>
                  </a:lnTo>
                  <a:cubicBezTo>
                    <a:pt x="2916440" y="482595"/>
                    <a:pt x="2909296" y="489739"/>
                    <a:pt x="2900483" y="489739"/>
                  </a:cubicBezTo>
                  <a:lnTo>
                    <a:pt x="15957" y="489739"/>
                  </a:lnTo>
                  <a:cubicBezTo>
                    <a:pt x="7144" y="489739"/>
                    <a:pt x="0" y="482595"/>
                    <a:pt x="0" y="473782"/>
                  </a:cubicBezTo>
                  <a:lnTo>
                    <a:pt x="0" y="15957"/>
                  </a:lnTo>
                  <a:cubicBezTo>
                    <a:pt x="0" y="7144"/>
                    <a:pt x="7144" y="0"/>
                    <a:pt x="15957" y="0"/>
                  </a:cubicBezTo>
                  <a:close/>
                </a:path>
              </a:pathLst>
            </a:custGeom>
            <a:solidFill>
              <a:srgbClr val="B8D2E4"/>
            </a:solidFill>
            <a:ln cap="sq">
              <a:noFill/>
              <a:prstDash val="solid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2916440" cy="52783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10240411" y="7309422"/>
            <a:ext cx="6760142" cy="7246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379"/>
              </a:lnSpc>
              <a:spcBef>
                <a:spcPct val="0"/>
              </a:spcBef>
            </a:pPr>
            <a:r>
              <a:rPr lang="en-US" b="true" sz="3300">
                <a:solidFill>
                  <a:srgbClr val="156669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Controle de V</a:t>
            </a:r>
            <a:r>
              <a:rPr lang="en-US" b="true" sz="3300" strike="noStrike" u="none">
                <a:solidFill>
                  <a:srgbClr val="156669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ersão: Git / GitHub 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B8D2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0" y="302221"/>
            <a:ext cx="8841904" cy="9682557"/>
            <a:chOff x="0" y="0"/>
            <a:chExt cx="2328732" cy="255013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28732" cy="2550139"/>
            </a:xfrm>
            <a:custGeom>
              <a:avLst/>
              <a:gdLst/>
              <a:ahLst/>
              <a:cxnLst/>
              <a:rect r="r" b="b" t="t" l="l"/>
              <a:pathLst>
                <a:path h="2550139" w="2328732">
                  <a:moveTo>
                    <a:pt x="0" y="0"/>
                  </a:moveTo>
                  <a:lnTo>
                    <a:pt x="2328732" y="0"/>
                  </a:lnTo>
                  <a:lnTo>
                    <a:pt x="2328732" y="2550139"/>
                  </a:lnTo>
                  <a:lnTo>
                    <a:pt x="0" y="2550139"/>
                  </a:lnTo>
                  <a:close/>
                </a:path>
              </a:pathLst>
            </a:custGeom>
            <a:solidFill>
              <a:srgbClr val="F8F8F8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2328732" cy="257871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0111407" y="1746467"/>
            <a:ext cx="6907091" cy="6794065"/>
          </a:xfrm>
          <a:custGeom>
            <a:avLst/>
            <a:gdLst/>
            <a:ahLst/>
            <a:cxnLst/>
            <a:rect r="r" b="b" t="t" l="l"/>
            <a:pathLst>
              <a:path h="6794065" w="6907091">
                <a:moveTo>
                  <a:pt x="0" y="0"/>
                </a:moveTo>
                <a:lnTo>
                  <a:pt x="6907090" y="0"/>
                </a:lnTo>
                <a:lnTo>
                  <a:pt x="6907090" y="6794066"/>
                </a:lnTo>
                <a:lnTo>
                  <a:pt x="0" y="67940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6" id="6"/>
          <p:cNvSpPr txBox="true"/>
          <p:nvPr/>
        </p:nvSpPr>
        <p:spPr>
          <a:xfrm rot="0">
            <a:off x="1028700" y="3781425"/>
            <a:ext cx="6956263" cy="2724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799"/>
              </a:lnSpc>
            </a:pPr>
            <a:r>
              <a:rPr lang="en-US" sz="8999" spc="-674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Demonstração da aplicação: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DAG3k85SkoQ</dc:identifier>
  <dcterms:modified xsi:type="dcterms:W3CDTF">2011-08-01T06:04:30Z</dcterms:modified>
  <cp:revision>1</cp:revision>
  <dc:title>Projeto POO</dc:title>
</cp:coreProperties>
</file>